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58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D31AF-79D9-B366-17E6-74F9B63E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777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20BFC1-BCA8-CEAF-0DBF-F89AC68F71BD}"/>
              </a:ext>
            </a:extLst>
          </p:cNvPr>
          <p:cNvSpPr txBox="1"/>
          <p:nvPr/>
        </p:nvSpPr>
        <p:spPr>
          <a:xfrm>
            <a:off x="1754155" y="1667603"/>
            <a:ext cx="91906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</a:t>
            </a:r>
            <a:endParaRPr lang="en-IN" sz="7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B60AC-20D9-8919-8DD6-5F825B2B80C2}"/>
              </a:ext>
            </a:extLst>
          </p:cNvPr>
          <p:cNvSpPr txBox="1"/>
          <p:nvPr/>
        </p:nvSpPr>
        <p:spPr>
          <a:xfrm>
            <a:off x="2369975" y="2962641"/>
            <a:ext cx="8574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CSA0606 - DESIGN AND ANALYSIS OF ALGORITHMS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CEE7C-8109-789B-83A4-706CE8D07929}"/>
              </a:ext>
            </a:extLst>
          </p:cNvPr>
          <p:cNvSpPr txBox="1"/>
          <p:nvPr/>
        </p:nvSpPr>
        <p:spPr>
          <a:xfrm>
            <a:off x="475861" y="4534678"/>
            <a:ext cx="42360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DR.K.RAJAGOPAL</a:t>
            </a:r>
          </a:p>
          <a:p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FAA36-82A4-BB1F-A5E6-760659B1E207}"/>
              </a:ext>
            </a:extLst>
          </p:cNvPr>
          <p:cNvSpPr txBox="1"/>
          <p:nvPr/>
        </p:nvSpPr>
        <p:spPr>
          <a:xfrm>
            <a:off x="8145624" y="4534678"/>
            <a:ext cx="4046376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AVINASH  M (192521196)</a:t>
            </a:r>
          </a:p>
        </p:txBody>
      </p:sp>
    </p:spTree>
    <p:extLst>
      <p:ext uri="{BB962C8B-B14F-4D97-AF65-F5344CB8AC3E}">
        <p14:creationId xmlns:p14="http://schemas.microsoft.com/office/powerpoint/2010/main" val="329987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1068" y="960120"/>
            <a:ext cx="46037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8FC1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1068" y="5577840"/>
            <a:ext cx="36827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 T(n) = 3T(n/2) + 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890382"/>
            <a:ext cx="1055572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 is used to solve recurrence relations.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recursive calls in the form of a tree.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tree node shows the work done in one recursive call.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execution time is obtained by adding the cost of all levels.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to analyze Divide and Conquer algorithms such as Merge Sort and Quick Sort.</a:t>
            </a:r>
          </a:p>
          <a:p>
            <a:pPr marL="457200" indent="-4572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91440"/>
            <a:ext cx="12191695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87775" y="5943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Pseudocode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6876" y="1874520"/>
            <a:ext cx="697976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Divide: split the problem of size n into 3 independent subproblems, each of size n/2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Recurse: solve every subproblem by calling the same function recursively (base case: n = 1, trivial to solve)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Combine: merge the 3 partial results into the final answer — this step costs Θ(n) time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Recurrence produced: T(n) = 3·T(n/2) + n, with base case T(1) = Θ(1)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Pseudocode captures exactly 3 recursive calls per level, matching the branching factor a =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1724" y="2743200"/>
            <a:ext cx="4343400" cy="4114800"/>
          </a:xfrm>
          <a:prstGeom prst="roundRect">
            <a:avLst>
              <a:gd name="adj" fmla="val 44635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8259775" y="3497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32232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Solve(n):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 == 1: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O(1)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r1 = Solve(n/2)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r2 = Solve(n/2)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r3 = Solve(n/2)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Combine(r1,r2,r3)  // Θ(n)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44945" y="2468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 — The Recursion Tree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88152" y="2953512"/>
            <a:ext cx="585216" cy="58521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788152" y="2953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3840480" y="3538728"/>
            <a:ext cx="2240280" cy="2743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566160" y="3794760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3538728"/>
            <a:ext cx="0" cy="2743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06440" y="3794760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064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3538728"/>
            <a:ext cx="2240280" cy="2743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46720" y="3794760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467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H="1">
            <a:off x="315468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93522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9352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4343400"/>
            <a:ext cx="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2102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210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682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0682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539496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17550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755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4343400"/>
            <a:ext cx="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86130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8613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4710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4710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763524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41578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41578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4343400"/>
            <a:ext cx="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10158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10158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0" y="4343400"/>
            <a:ext cx="685800" cy="329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787384" y="4672584"/>
            <a:ext cx="438912" cy="43891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787384" y="4672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92640" y="3099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cost 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69264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cost 3·(n/2)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692640" y="4745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cost 9·(n/4)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01168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 (continues to level log₂n, where size = 1)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DC53C8-7556-913C-9CB8-40EA843FAFA5}"/>
              </a:ext>
            </a:extLst>
          </p:cNvPr>
          <p:cNvSpPr txBox="1"/>
          <p:nvPr/>
        </p:nvSpPr>
        <p:spPr>
          <a:xfrm>
            <a:off x="2383038" y="981498"/>
            <a:ext cx="74868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recurrence T(n)=3T(n/2)+n.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problem into three equal subproblems.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recursive calls until the base case n = 1.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cost at each tree level and sum all levels.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final asymptotic complexity.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21939" y="365760"/>
            <a:ext cx="33440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6550" y="1143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recursive_solve(n) mirrors the recurrence exactly: 3 recursive calls on n/2, plus Θ(n) combine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 case n &lt;= 1 returns immediately — required to terminate the recursion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combine(n) simulates the linear  merging cost with a simple counted loop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driver script times the function for increasing n to observe growth empirically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Measured growth should track n^log₂3 ≈ n^1.585, matching the theoretical derivation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6531" y="3246119"/>
            <a:ext cx="11054909" cy="3350623"/>
          </a:xfrm>
          <a:prstGeom prst="roundRect">
            <a:avLst>
              <a:gd name="adj" fmla="val 1791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332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combine(n):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range(n):     # Theta(n) merge work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recursive_solve(n):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                       # base case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r1 = recursive_solve(n // 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= recursive_solve(n // 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r3 = recursive_solve(n // 2)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r1 + r2 + r3 + combine(n)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355910" y="38022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Complexity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0344" y="1120140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 over all levels: T(n) = Σ(i=0 to log₂n) n·(3/2)^i — a geometric series, ratio 3/2 &gt;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Because the ratio exceeds 1, the last (leaf) level dominates the entire sum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Evaluating the last term gives T(n) = n·(3/2)^(log₂n) = n^log₂3 ≈ n^1.585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Tight bound obtained: T(n) = Θ(n^log₂3) ≈ Θ(n^1.585)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622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Space complexity: Θ(log n) for the recursion call stack depth (excluding combine buffers)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212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timing output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977640"/>
          <a:ext cx="4663440" cy="21031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n^1.585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338328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BOUND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Θ(n^1.585)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F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— between linear Θ(n) and quadratic Θ(n²)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Θ(log n)  (call-stack depth)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0" y="5669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Master Theorem Case 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156096" y="896672"/>
            <a:ext cx="22099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20702" y="2155371"/>
            <a:ext cx="9680742" cy="343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Tree Method clearly shows how the recursive cost grows.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leaf nodes contribute the largest portion of the total cost.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grows faster than linear time.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complexity is Θ(n^1.585).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the Recursion Tree Method and Master Theorem produce the same result.</a:t>
            </a:r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D2109-8E6E-C779-3C85-84EB4A0D2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0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2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7188C6-E5DB-6CC5-44F6-98CAA584BD95}"/>
              </a:ext>
            </a:extLst>
          </p:cNvPr>
          <p:cNvSpPr txBox="1"/>
          <p:nvPr/>
        </p:nvSpPr>
        <p:spPr>
          <a:xfrm>
            <a:off x="2789853" y="2767280"/>
            <a:ext cx="9013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0298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869</Words>
  <Application>Microsoft Office PowerPoint</Application>
  <PresentationFormat>Widescreen</PresentationFormat>
  <Paragraphs>123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avinash2925@outlook.com</cp:lastModifiedBy>
  <cp:revision>3</cp:revision>
  <dcterms:created xsi:type="dcterms:W3CDTF">2026-07-22T03:46:05Z</dcterms:created>
  <dcterms:modified xsi:type="dcterms:W3CDTF">2026-07-22T06:25:22Z</dcterms:modified>
</cp:coreProperties>
</file>